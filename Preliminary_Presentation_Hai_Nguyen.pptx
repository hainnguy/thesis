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98"/>
    <p:restoredTop sz="60548"/>
  </p:normalViewPr>
  <p:slideViewPr>
    <p:cSldViewPr snapToGrid="0" snapToObjects="1">
      <p:cViewPr>
        <p:scale>
          <a:sx n="67" d="100"/>
          <a:sy n="67" d="100"/>
        </p:scale>
        <p:origin x="872" y="32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7BF20E-F4A6-F34D-9D20-D74A88482185}" type="datetimeFigureOut">
              <a:t>12.06.26</a:t>
            </a:fld>
            <a:endParaRPr lang="de-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de-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FB2096-8667-2340-A540-1A3BD698D65E}" type="slidenum">
              <a:t>‹#›</a:t>
            </a:fld>
            <a:endParaRPr lang="de-DE"/>
          </a:p>
        </p:txBody>
      </p:sp>
    </p:spTree>
    <p:extLst>
      <p:ext uri="{BB962C8B-B14F-4D97-AF65-F5344CB8AC3E}">
        <p14:creationId xmlns:p14="http://schemas.microsoft.com/office/powerpoint/2010/main" val="3256764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sz="1200" b="0" i="0" u="none" strike="noStrike" kern="1200">
                <a:solidFill>
                  <a:schemeClr val="tx1"/>
                </a:solidFill>
                <a:effectLst/>
                <a:latin typeface="+mn-lt"/>
                <a:ea typeface="+mn-ea"/>
                <a:cs typeface="+mn-cs"/>
              </a:rPr>
              <a:t>I'm here to present my bachelor's thesis topic: Benchmarking Tabular Data Augmentation Techniques for Deep Clustering.</a:t>
            </a:r>
            <a:endParaRPr lang="de-DE"/>
          </a:p>
          <a:p>
            <a:r>
              <a:rPr lang="de-DE"/>
              <a:t>I will walk you through the motivation, the research question, the approach I‘m taking and the possible challenges I‘m anticipating.</a:t>
            </a:r>
          </a:p>
          <a:p>
            <a:endParaRPr lang="de-DE"/>
          </a:p>
          <a:p>
            <a:r>
              <a:rPr lang="de-DE"/>
              <a:t> </a:t>
            </a:r>
          </a:p>
        </p:txBody>
      </p:sp>
      <p:sp>
        <p:nvSpPr>
          <p:cNvPr id="4" name="Slide Number Placeholder 3"/>
          <p:cNvSpPr>
            <a:spLocks noGrp="1"/>
          </p:cNvSpPr>
          <p:nvPr>
            <p:ph type="sldNum" sz="quarter" idx="5"/>
          </p:nvPr>
        </p:nvSpPr>
        <p:spPr/>
        <p:txBody>
          <a:bodyPr/>
          <a:lstStyle/>
          <a:p>
            <a:fld id="{28FB2096-8667-2340-A540-1A3BD698D65E}" type="slidenum">
              <a:t>1</a:t>
            </a:fld>
            <a:endParaRPr lang="de-DE"/>
          </a:p>
        </p:txBody>
      </p:sp>
    </p:spTree>
    <p:extLst>
      <p:ext uri="{BB962C8B-B14F-4D97-AF65-F5344CB8AC3E}">
        <p14:creationId xmlns:p14="http://schemas.microsoft.com/office/powerpoint/2010/main" val="14916427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DE" sz="1200" b="0" i="0" kern="1200">
                <a:solidFill>
                  <a:schemeClr val="tx1"/>
                </a:solidFill>
                <a:effectLst/>
                <a:latin typeface="+mn-lt"/>
                <a:ea typeface="+mn-ea"/>
                <a:cs typeface="+mn-cs"/>
              </a:rPr>
              <a:t>Let me start with the context. </a:t>
            </a:r>
          </a:p>
          <a:p>
            <a:pPr marL="171450" indent="-171450">
              <a:buFontTx/>
              <a:buChar char="-"/>
            </a:pPr>
            <a:r>
              <a:rPr lang="en-DE" sz="1200" b="0" i="0" kern="1200">
                <a:solidFill>
                  <a:schemeClr val="tx1"/>
                </a:solidFill>
                <a:effectLst/>
                <a:latin typeface="+mn-lt"/>
                <a:ea typeface="+mn-ea"/>
                <a:cs typeface="+mn-cs"/>
              </a:rPr>
              <a:t>As you know clustering is important and useful in many real world applications. </a:t>
            </a:r>
          </a:p>
          <a:p>
            <a:pPr marL="171450" indent="-171450">
              <a:buFontTx/>
              <a:buChar char="-"/>
            </a:pPr>
            <a:endParaRPr lang="en-DE" sz="1200" b="0" i="0" kern="1200">
              <a:solidFill>
                <a:schemeClr val="tx1"/>
              </a:solidFill>
              <a:effectLst/>
              <a:latin typeface="+mn-lt"/>
              <a:ea typeface="+mn-ea"/>
              <a:cs typeface="+mn-cs"/>
            </a:endParaRPr>
          </a:p>
          <a:p>
            <a:pPr marL="171450" indent="-171450">
              <a:buFontTx/>
              <a:buChar char="-"/>
            </a:pPr>
            <a:r>
              <a:rPr lang="en-DE" sz="1200" b="0" i="0" kern="1200">
                <a:solidFill>
                  <a:schemeClr val="tx1"/>
                </a:solidFill>
                <a:effectLst/>
                <a:latin typeface="+mn-lt"/>
                <a:ea typeface="+mn-ea"/>
                <a:cs typeface="+mn-cs"/>
              </a:rPr>
              <a:t>The problem is that classical clustering such as k means often fails on raw tabular data. Tabular datasets mix numerical and categorical features, they contain noise, and the relationship between features and cluster membership is frequently nonlinear. </a:t>
            </a:r>
          </a:p>
          <a:p>
            <a:pPr marL="171450" indent="-171450">
              <a:buFontTx/>
              <a:buChar char="-"/>
            </a:pPr>
            <a:endParaRPr lang="en-DE" sz="1200" b="0" i="0" kern="1200">
              <a:solidFill>
                <a:schemeClr val="tx1"/>
              </a:solidFill>
              <a:effectLst/>
              <a:latin typeface="+mn-lt"/>
              <a:ea typeface="+mn-ea"/>
              <a:cs typeface="+mn-cs"/>
            </a:endParaRPr>
          </a:p>
          <a:p>
            <a:pPr marL="171450" indent="-171450">
              <a:buFontTx/>
              <a:buChar char="-"/>
            </a:pPr>
            <a:r>
              <a:rPr lang="en-DE" sz="1200" b="0" i="0" kern="1200">
                <a:solidFill>
                  <a:schemeClr val="tx1"/>
                </a:solidFill>
                <a:effectLst/>
                <a:latin typeface="+mn-lt"/>
                <a:ea typeface="+mn-ea"/>
                <a:cs typeface="+mn-cs"/>
              </a:rPr>
              <a:t>Kmeans assumes roughly spherical clusters in Euclidean space, which is simply not what tabular data looks like in practice.</a:t>
            </a:r>
          </a:p>
          <a:p>
            <a:pPr marL="171450" indent="-171450">
              <a:buFontTx/>
              <a:buChar char="-"/>
            </a:pPr>
            <a:endParaRPr lang="en-DE" sz="1200" b="0" i="0" kern="1200">
              <a:solidFill>
                <a:schemeClr val="tx1"/>
              </a:solidFill>
              <a:effectLst/>
              <a:latin typeface="+mn-lt"/>
              <a:ea typeface="+mn-ea"/>
              <a:cs typeface="+mn-cs"/>
            </a:endParaRPr>
          </a:p>
          <a:p>
            <a:pPr marL="171450" indent="-171450">
              <a:buFontTx/>
              <a:buChar char="-"/>
            </a:pPr>
            <a:r>
              <a:rPr lang="en-DE" sz="1200" b="0" i="0" kern="1200">
                <a:solidFill>
                  <a:schemeClr val="tx1"/>
                </a:solidFill>
                <a:effectLst/>
                <a:latin typeface="+mn-lt"/>
                <a:ea typeface="+mn-ea"/>
                <a:cs typeface="+mn-cs"/>
              </a:rPr>
              <a:t>So deep clustering is the response to this. Instead of clustering raw features directly, we first train a neural network to learn a compact latent representation – a space where the clusters become more separable- and then we cluster there.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latin typeface="Calibri"/>
              </a:rPr>
              <a:t>The core problem is that unlike images, there is no obvious 'rotate a tabular row' operation. The augmentation has to be designed carefully so it creates a different view of the same sample without changing which cluster it belongs to.</a:t>
            </a:r>
            <a:endParaRPr lang="en-US" sz="1400">
              <a:latin typeface="Calibri"/>
            </a:endParaRPr>
          </a:p>
          <a:p>
            <a:pPr marL="285750" indent="-285750">
              <a:buFont typeface="Arial" panose="020B0604020202020204" pitchFamily="34" charset="0"/>
              <a:buChar char="•"/>
            </a:pPr>
            <a:endParaRPr lang="en-DE" sz="1400">
              <a:latin typeface="Calibri"/>
            </a:endParaRPr>
          </a:p>
          <a:p>
            <a:pPr marL="285750" indent="-285750">
              <a:buFont typeface="Arial" panose="020B0604020202020204" pitchFamily="34" charset="0"/>
              <a:buChar char="•"/>
            </a:pPr>
            <a:r>
              <a:rPr lang="en-DE" sz="1400">
                <a:latin typeface="Calibri"/>
              </a:rPr>
              <a:t>So we re using neural network to help with clustering. But the question is how do we train it without labels? This is where contrastive learning comes in.</a:t>
            </a:r>
          </a:p>
          <a:p>
            <a:endParaRPr lang="en-DE" sz="1400">
              <a:latin typeface="Calibri"/>
            </a:endParaRPr>
          </a:p>
          <a:p>
            <a:pPr marL="285750" indent="-285750">
              <a:buFontTx/>
              <a:buChar char="-"/>
            </a:pPr>
            <a:r>
              <a:rPr lang="en-DE" sz="1400">
                <a:latin typeface="Calibri"/>
              </a:rPr>
              <a:t>The idea is, we take one data point, create two slightly different versions of it and train the network to produce similar representations for those two views, while pushing representations of different points apart. The goal is, that the network learns what is structurally important about a sample, not what is superficially different. </a:t>
            </a:r>
          </a:p>
          <a:p>
            <a:pPr marL="285750" indent="-285750">
              <a:buFontTx/>
              <a:buChar char="-"/>
            </a:pPr>
            <a:r>
              <a:rPr lang="en-DE" sz="1400">
                <a:latin typeface="Calibri"/>
              </a:rPr>
              <a:t>This works very well in computer vision. If you have an image of a dog, you can randomly crop it, flip it, change the brightness, you still have a dog. </a:t>
            </a:r>
          </a:p>
          <a:p>
            <a:pPr marL="285750" indent="-285750">
              <a:buFontTx/>
              <a:buChar char="-"/>
            </a:pPr>
            <a:r>
              <a:rPr lang="en-DE" sz="1400">
                <a:latin typeface="Calibri"/>
              </a:rPr>
              <a:t>Tabular data is different. There is no established equivalent. If you add random noise to a nummerical featrue, does the sample still belong to the same cluster? The research community has not reached a consensus. That is the gap this thesis addresses.</a:t>
            </a:r>
          </a:p>
          <a:p>
            <a:pPr marL="285750" indent="-285750">
              <a:buFontTx/>
              <a:buChar char="-"/>
            </a:pPr>
            <a:endParaRPr sz="1400">
              <a:latin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DE" sz="1400">
                <a:latin typeface="Calibri"/>
              </a:rPr>
              <a:t>Which brings me to the research question.</a:t>
            </a:r>
          </a:p>
          <a:p>
            <a:endParaRPr lang="en-DE" sz="1400">
              <a:latin typeface="Calibri"/>
            </a:endParaRPr>
          </a:p>
          <a:p>
            <a:r>
              <a:rPr lang="en-US" sz="1400">
                <a:latin typeface="Calibri"/>
              </a:rPr>
              <a:t>The key phrase is cluster-friendly. I’m not asking which augmentations produce good representations in general. I’m asking which augmentations preserve the cluster structure we actually care about. The evaluation is always grounded in clustering quality: NMI and ARI.</a:t>
            </a:r>
            <a:endParaRPr sz="1400">
              <a:latin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latin typeface="Calibri"/>
              </a:rPr>
              <a:t>The pipeline is the same regardless of which augmentation we use — that is the point of a benchmark. Only the augmentation block changes; everything else is fixed.</a:t>
            </a:r>
            <a:endParaRPr lang="en-US" sz="1400">
              <a:latin typeface="Calibri"/>
            </a:endParaRPr>
          </a:p>
          <a:p>
            <a:endParaRPr lang="en-DE" sz="1400">
              <a:latin typeface="Calibri"/>
            </a:endParaRPr>
          </a:p>
          <a:p>
            <a:r>
              <a:rPr lang="en-DE" sz="1400">
                <a:latin typeface="Calibri"/>
              </a:rPr>
              <a:t>Hier is how the methodology looks like</a:t>
            </a:r>
          </a:p>
          <a:p>
            <a:endParaRPr lang="en-DE" sz="1400">
              <a:latin typeface="Calibri"/>
            </a:endParaRPr>
          </a:p>
          <a:p>
            <a:pPr marL="285750" indent="-285750">
              <a:buFont typeface="Arial" panose="020B0604020202020204" pitchFamily="34" charset="0"/>
              <a:buChar char="•"/>
            </a:pPr>
            <a:r>
              <a:rPr lang="en-DE" sz="1400">
                <a:latin typeface="Calibri"/>
              </a:rPr>
              <a:t>We start with raw tabular data, loaded from common libraries like OpenML or UCL. </a:t>
            </a:r>
          </a:p>
          <a:p>
            <a:pPr marL="285750" indent="-285750">
              <a:buFont typeface="Arial" panose="020B0604020202020204" pitchFamily="34" charset="0"/>
              <a:buChar char="•"/>
            </a:pPr>
            <a:r>
              <a:rPr lang="en-DE" sz="1400">
                <a:latin typeface="Calibri"/>
              </a:rPr>
              <a:t>That data goes through an augmentation step, which I’ll come back to in a moment. </a:t>
            </a:r>
          </a:p>
          <a:p>
            <a:pPr marL="285750" indent="-285750">
              <a:buFont typeface="Arial" panose="020B0604020202020204" pitchFamily="34" charset="0"/>
              <a:buChar char="•"/>
            </a:pPr>
            <a:r>
              <a:rPr lang="en-DE" sz="1400">
                <a:latin typeface="Calibri"/>
              </a:rPr>
              <a:t>The augmented views are passed through an MLP encoder, which outputs a fixed-size embedding. </a:t>
            </a:r>
          </a:p>
          <a:p>
            <a:pPr marL="285750" indent="-285750">
              <a:buFont typeface="Arial" panose="020B0604020202020204" pitchFamily="34" charset="0"/>
              <a:buChar char="•"/>
            </a:pPr>
            <a:r>
              <a:rPr lang="en-DE" sz="1400">
                <a:latin typeface="Calibri"/>
              </a:rPr>
              <a:t>We run kmeans on those embeddings. </a:t>
            </a:r>
          </a:p>
          <a:p>
            <a:pPr marL="285750" indent="-285750">
              <a:buFont typeface="Arial" panose="020B0604020202020204" pitchFamily="34" charset="0"/>
              <a:buChar char="•"/>
            </a:pPr>
            <a:r>
              <a:rPr lang="en-DE" sz="1400">
                <a:latin typeface="Calibri"/>
              </a:rPr>
              <a:t>And we evaluate the resulting clusters againtst ground-truth labels using NMI and ARI</a:t>
            </a:r>
          </a:p>
          <a:p>
            <a:pPr marL="285750" indent="-285750">
              <a:buFont typeface="Arial" panose="020B0604020202020204" pitchFamily="34" charset="0"/>
              <a:buChar char="•"/>
            </a:pPr>
            <a:endParaRPr lang="en-DE" sz="1400">
              <a:latin typeface="Calibri"/>
            </a:endParaRPr>
          </a:p>
          <a:p>
            <a:pPr marL="285750" indent="-285750">
              <a:buFont typeface="Arial" panose="020B0604020202020204" pitchFamily="34" charset="0"/>
              <a:buChar char="•"/>
            </a:pPr>
            <a:r>
              <a:rPr lang="en-DE" sz="1400">
                <a:latin typeface="Calibri"/>
              </a:rPr>
              <a:t>This pipline is identical for every augmentation. Only the second box changes. That is what makes it a benchmark.</a:t>
            </a:r>
          </a:p>
          <a:p>
            <a:pPr marL="285750" indent="-285750">
              <a:buFont typeface="Arial" panose="020B0604020202020204" pitchFamily="34" charset="0"/>
              <a:buChar char="•"/>
            </a:pPr>
            <a:endParaRPr lang="en-DE" sz="1400">
              <a:latin typeface="Calibri"/>
            </a:endParaRPr>
          </a:p>
          <a:p>
            <a:pPr marL="285750" indent="-285750">
              <a:buFont typeface="Arial" panose="020B0604020202020204" pitchFamily="34" charset="0"/>
              <a:buChar char="•"/>
            </a:pPr>
            <a:r>
              <a:rPr lang="en-DE" sz="1400">
                <a:latin typeface="Calibri"/>
              </a:rPr>
              <a:t>The three techniques I’ll compare are these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400">
                <a:latin typeface="Calibri"/>
              </a:rPr>
              <a:t>The official thesis period is only 10 weeks, so all tool learning — including PyTorch — is deliberately moved into the preparation phase before June 15 to keep the full official period for actual research.</a:t>
            </a:r>
            <a:endParaRPr lang="en-US" sz="1400">
              <a:latin typeface="Calibri"/>
            </a:endParaRPr>
          </a:p>
          <a:p>
            <a:endParaRPr lang="en-DE" sz="1400">
              <a:latin typeface="Calibri"/>
            </a:endParaRPr>
          </a:p>
          <a:p>
            <a:r>
              <a:rPr lang="en-DE" sz="1400">
                <a:latin typeface="Calibri"/>
              </a:rPr>
              <a:t>Let me show you the tentative timeline</a:t>
            </a:r>
          </a:p>
          <a:p>
            <a:endParaRPr lang="en-DE" sz="1400">
              <a:latin typeface="Calibri"/>
            </a:endParaRPr>
          </a:p>
          <a:p>
            <a:pPr marL="285750" indent="-285750">
              <a:buFont typeface="Arial" panose="020B0604020202020204" pitchFamily="34" charset="0"/>
              <a:buChar char="•"/>
            </a:pPr>
            <a:r>
              <a:rPr lang="en-DE" sz="1400">
                <a:latin typeface="Calibri"/>
              </a:rPr>
              <a:t>The official period runs from next week to August 23rd- ten weeks according to the Pruefungsamt. </a:t>
            </a:r>
          </a:p>
          <a:p>
            <a:endParaRPr lang="en-DE" sz="1400">
              <a:latin typeface="Calibri"/>
            </a:endParaRPr>
          </a:p>
          <a:p>
            <a:pPr marL="285750" indent="-285750">
              <a:buFont typeface="Arial" panose="020B0604020202020204" pitchFamily="34" charset="0"/>
              <a:buChar char="•"/>
            </a:pPr>
            <a:r>
              <a:rPr lang="en-DE" sz="1400">
                <a:latin typeface="Calibri"/>
              </a:rPr>
              <a:t>The preparation phase, which ands this Sunday, was deliberately designed to move all tool on boarding out of the official period.</a:t>
            </a:r>
          </a:p>
          <a:p>
            <a:pPr marL="285750" indent="-285750">
              <a:buFont typeface="Arial" panose="020B0604020202020204" pitchFamily="34" charset="0"/>
              <a:buChar char="•"/>
            </a:pPr>
            <a:endParaRPr lang="en-DE" sz="1400">
              <a:latin typeface="Calibri"/>
            </a:endParaRPr>
          </a:p>
          <a:p>
            <a:pPr marL="285750" indent="-285750">
              <a:buFont typeface="Arial" panose="020B0604020202020204" pitchFamily="34" charset="0"/>
              <a:buChar char="•"/>
            </a:pPr>
            <a:r>
              <a:rPr lang="en-DE" sz="1400">
                <a:latin typeface="Calibri"/>
              </a:rPr>
              <a:t>Weeks one and two are literature review and methodology. Where I will read SCARF and the augmentation survey carefully, and agreeing the final method and datasets with Mamdouh. </a:t>
            </a:r>
          </a:p>
          <a:p>
            <a:pPr marL="285750" indent="-285750">
              <a:buFont typeface="Arial" panose="020B0604020202020204" pitchFamily="34" charset="0"/>
              <a:buChar char="•"/>
            </a:pPr>
            <a:r>
              <a:rPr lang="en-DE" sz="1400">
                <a:latin typeface="Calibri"/>
              </a:rPr>
              <a:t>Weeks three through five are implementation, building the benchmerk pipline. </a:t>
            </a:r>
          </a:p>
          <a:p>
            <a:pPr marL="285750" indent="-285750">
              <a:buFont typeface="Arial" panose="020B0604020202020204" pitchFamily="34" charset="0"/>
              <a:buChar char="•"/>
            </a:pPr>
            <a:r>
              <a:rPr lang="en-DE" sz="1400">
                <a:latin typeface="Calibri"/>
              </a:rPr>
              <a:t>Weeks six and seven are experiments and sensitivity studies. </a:t>
            </a:r>
          </a:p>
          <a:p>
            <a:pPr marL="285750" indent="-285750">
              <a:buFont typeface="Arial" panose="020B0604020202020204" pitchFamily="34" charset="0"/>
              <a:buChar char="•"/>
            </a:pPr>
            <a:r>
              <a:rPr lang="en-DE" sz="1400">
                <a:latin typeface="Calibri"/>
              </a:rPr>
              <a:t>And the final three weeks are writing and submission, with the hard deadline of August 23rd.</a:t>
            </a:r>
          </a:p>
          <a:p>
            <a:pPr marL="285750" indent="-285750">
              <a:buFont typeface="Arial" panose="020B0604020202020204" pitchFamily="34" charset="0"/>
              <a:buChar char="•"/>
            </a:pPr>
            <a:endParaRPr lang="en-DE" sz="1400">
              <a:latin typeface="Calibri"/>
            </a:endParaRPr>
          </a:p>
          <a:p>
            <a:pPr marL="285750" indent="-285750">
              <a:buFont typeface="Arial" panose="020B0604020202020204" pitchFamily="34" charset="0"/>
              <a:buChar char="•"/>
            </a:pPr>
            <a:r>
              <a:rPr lang="en-DE" sz="1400">
                <a:latin typeface="Calibri"/>
              </a:rPr>
              <a:t>I’ve defined three milestones to keep progress verifiable. </a:t>
            </a:r>
          </a:p>
          <a:p>
            <a:pPr marL="285750" indent="-285750">
              <a:buFont typeface="Arial" panose="020B0604020202020204" pitchFamily="34" charset="0"/>
              <a:buChar char="•"/>
            </a:pPr>
            <a:r>
              <a:rPr lang="en-DE" sz="1400">
                <a:latin typeface="Calibri"/>
              </a:rPr>
              <a:t>M1 at the end of week one: Pytorch ready and literature reviewed.</a:t>
            </a:r>
          </a:p>
          <a:p>
            <a:pPr marL="285750" indent="-285750">
              <a:buFont typeface="Arial" panose="020B0604020202020204" pitchFamily="34" charset="0"/>
              <a:buChar char="•"/>
            </a:pPr>
            <a:r>
              <a:rPr lang="en-DE" sz="1400">
                <a:latin typeface="Calibri"/>
              </a:rPr>
              <a:t>M3 at the end of week 4: a minimal working pipeline producing first clustering results.</a:t>
            </a:r>
          </a:p>
          <a:p>
            <a:pPr marL="285750" indent="-285750">
              <a:buFont typeface="Arial" panose="020B0604020202020204" pitchFamily="34" charset="0"/>
              <a:buChar char="•"/>
            </a:pPr>
            <a:r>
              <a:rPr lang="en-DE" sz="1400">
                <a:latin typeface="Calibri"/>
              </a:rPr>
              <a:t>And M6 is the submission itself.</a:t>
            </a:r>
            <a:endParaRPr lang="en-US" sz="1400">
              <a:latin typeface="Calibri"/>
            </a:endParaRPr>
          </a:p>
          <a:p>
            <a:endParaRPr lang="en-DE" sz="1400">
              <a:latin typeface="Calibri"/>
            </a:endParaRPr>
          </a:p>
          <a:p>
            <a:endParaRPr sz="1400">
              <a:latin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sz="1400">
                <a:latin typeface="Calibri"/>
              </a:rPr>
              <a:t>Direct about the challenges I’m anticipating.</a:t>
            </a:r>
          </a:p>
          <a:p>
            <a:endParaRPr lang="en-US" sz="1400">
              <a:latin typeface="Calibri"/>
            </a:endParaRPr>
          </a:p>
          <a:p>
            <a:pPr marL="285750" indent="-285750">
              <a:buFontTx/>
              <a:buChar char="-"/>
            </a:pPr>
            <a:r>
              <a:rPr lang="en-US" sz="1400">
                <a:latin typeface="Calibri"/>
              </a:rPr>
              <a:t>PyTorch learning curve. Implementing the contrastive loss, and full training loop is new to me, that ‘s why the preparation phase exists.</a:t>
            </a:r>
          </a:p>
          <a:p>
            <a:pPr marL="285750" indent="-285750">
              <a:buFontTx/>
              <a:buChar char="-"/>
            </a:pPr>
            <a:endParaRPr lang="en-US" sz="1400">
              <a:latin typeface="Calibri"/>
            </a:endParaRPr>
          </a:p>
          <a:p>
            <a:pPr marL="285750" indent="-285750">
              <a:buFontTx/>
              <a:buChar char="-"/>
            </a:pPr>
            <a:r>
              <a:rPr lang="en-US" sz="1400">
                <a:latin typeface="Calibri"/>
              </a:rPr>
              <a:t>Augmentation must be applied correctly and carefully on mixed feature types.</a:t>
            </a:r>
          </a:p>
          <a:p>
            <a:pPr marL="285750" indent="-285750">
              <a:buFontTx/>
              <a:buChar char="-"/>
            </a:pPr>
            <a:endParaRPr lang="en-US" sz="1400">
              <a:latin typeface="Calibri"/>
            </a:endParaRPr>
          </a:p>
          <a:p>
            <a:pPr marL="285750" indent="-285750">
              <a:buFontTx/>
              <a:buChar char="-"/>
            </a:pPr>
            <a:r>
              <a:rPr lang="en-US" sz="1400">
                <a:latin typeface="Calibri"/>
              </a:rPr>
              <a:t>Datasets selection is not trivial, I’ll finalize the decision in week two with Mamdouh</a:t>
            </a:r>
          </a:p>
          <a:p>
            <a:pPr marL="285750" indent="-285750">
              <a:buFontTx/>
              <a:buChar char="-"/>
            </a:pPr>
            <a:endParaRPr lang="en-US" sz="1400">
              <a:latin typeface="Calibri"/>
            </a:endParaRPr>
          </a:p>
          <a:p>
            <a:pPr marL="285750" indent="-285750">
              <a:buFontTx/>
              <a:buChar char="-"/>
            </a:pPr>
            <a:r>
              <a:rPr lang="en-US" sz="1400">
                <a:latin typeface="Calibri"/>
              </a:rPr>
              <a:t>Risk, an augmentation that improves representation learning on one dataset may destroy meaningful tabular cluster boundaries. But investigating exactly when and why that happens is one of the core contribution of this thesis.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29260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02920"/>
            <a:ext cx="11064240" cy="1828800"/>
          </a:xfrm>
          <a:prstGeom prst="rect">
            <a:avLst/>
          </a:prstGeom>
          <a:noFill/>
        </p:spPr>
        <p:txBody>
          <a:bodyPr wrap="square">
            <a:spAutoFit/>
          </a:bodyPr>
          <a:lstStyle/>
          <a:p>
            <a:pPr algn="l"/>
            <a:r>
              <a:rPr sz="3600" b="1">
                <a:solidFill>
                  <a:srgbClr val="FFFFFF"/>
                </a:solidFill>
                <a:latin typeface="Calibri"/>
              </a:rPr>
              <a:t>Benchmarking Tabular Data Augmentation
Techniques for Deep Clustering</a:t>
            </a:r>
          </a:p>
        </p:txBody>
      </p:sp>
      <p:sp>
        <p:nvSpPr>
          <p:cNvPr id="4" name="TextBox 3"/>
          <p:cNvSpPr txBox="1"/>
          <p:nvPr/>
        </p:nvSpPr>
        <p:spPr>
          <a:xfrm>
            <a:off x="548640" y="3200400"/>
            <a:ext cx="11064240" cy="1585049"/>
          </a:xfrm>
          <a:prstGeom prst="rect">
            <a:avLst/>
          </a:prstGeom>
          <a:noFill/>
        </p:spPr>
        <p:txBody>
          <a:bodyPr wrap="square">
            <a:spAutoFit/>
          </a:bodyPr>
          <a:lstStyle/>
          <a:p>
            <a:pPr>
              <a:spcBef>
                <a:spcPts val="600"/>
              </a:spcBef>
            </a:pPr>
            <a:r>
              <a:rPr sz="2200" b="0">
                <a:solidFill>
                  <a:srgbClr val="1A1A1A"/>
                </a:solidFill>
                <a:latin typeface="Calibri"/>
              </a:rPr>
              <a:t>Hai Nguyen  ·  B.Sc. Computer Science  ·  LMU Munich</a:t>
            </a:r>
          </a:p>
          <a:p>
            <a:pPr>
              <a:spcBef>
                <a:spcPts val="600"/>
              </a:spcBef>
            </a:pPr>
            <a:r>
              <a:rPr lang="en-US" sz="2000">
                <a:solidFill>
                  <a:srgbClr val="1A1A1A"/>
                </a:solidFill>
                <a:latin typeface="Calibri"/>
              </a:rPr>
              <a:t>Supervisor:</a:t>
            </a:r>
            <a:r>
              <a:rPr sz="2000" b="0">
                <a:solidFill>
                  <a:srgbClr val="1A1A1A"/>
                </a:solidFill>
                <a:latin typeface="Calibri"/>
              </a:rPr>
              <a:t> Mamdouh Aljoud </a:t>
            </a:r>
            <a:endParaRPr lang="en-US" sz="2000" b="0">
              <a:solidFill>
                <a:srgbClr val="1A1A1A"/>
              </a:solidFill>
              <a:latin typeface="Calibri"/>
            </a:endParaRPr>
          </a:p>
          <a:p>
            <a:pPr>
              <a:spcBef>
                <a:spcPts val="600"/>
              </a:spcBef>
            </a:pPr>
            <a:r>
              <a:rPr lang="en-US" sz="2000">
                <a:solidFill>
                  <a:srgbClr val="1A1A1A"/>
                </a:solidFill>
                <a:latin typeface="Calibri"/>
              </a:rPr>
              <a:t>Examiner: </a:t>
            </a:r>
            <a:r>
              <a:rPr lang="en-US" sz="2000">
                <a:solidFill>
                  <a:srgbClr val="1A1A1A"/>
                </a:solidFill>
              </a:rPr>
              <a:t>Prof. Dr. Thomas Seidl</a:t>
            </a:r>
            <a:endParaRPr sz="2000" b="0">
              <a:solidFill>
                <a:srgbClr val="1A1A1A"/>
              </a:solidFill>
              <a:latin typeface="Calibri"/>
            </a:endParaRPr>
          </a:p>
          <a:p>
            <a:pPr>
              <a:spcBef>
                <a:spcPts val="600"/>
              </a:spcBef>
            </a:pPr>
            <a:r>
              <a:rPr sz="2000" b="0">
                <a:solidFill>
                  <a:srgbClr val="1A1A1A"/>
                </a:solidFill>
                <a:latin typeface="Calibri"/>
              </a:rPr>
              <a:t>Preliminary Presentation  ·  12 June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47120" cy="777240"/>
          </a:xfrm>
          <a:prstGeom prst="rect">
            <a:avLst/>
          </a:prstGeom>
          <a:noFill/>
        </p:spPr>
        <p:txBody>
          <a:bodyPr wrap="none">
            <a:spAutoFit/>
          </a:bodyPr>
          <a:lstStyle/>
          <a:p>
            <a:pPr algn="l"/>
            <a:r>
              <a:rPr sz="3600" b="1">
                <a:solidFill>
                  <a:srgbClr val="003366"/>
                </a:solidFill>
                <a:latin typeface="Calibri"/>
              </a:rPr>
              <a:t>Introduction</a:t>
            </a:r>
          </a:p>
        </p:txBody>
      </p:sp>
      <p:sp>
        <p:nvSpPr>
          <p:cNvPr id="3" name="Rectangle 2"/>
          <p:cNvSpPr/>
          <p:nvPr/>
        </p:nvSpPr>
        <p:spPr>
          <a:xfrm>
            <a:off x="457200" y="1124712"/>
            <a:ext cx="112471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17320"/>
            <a:ext cx="11247120" cy="2513509"/>
          </a:xfrm>
          <a:prstGeom prst="rect">
            <a:avLst/>
          </a:prstGeom>
          <a:noFill/>
        </p:spPr>
        <p:txBody>
          <a:bodyPr wrap="square">
            <a:spAutoFit/>
          </a:bodyPr>
          <a:lstStyle/>
          <a:p>
            <a:pPr algn="l">
              <a:spcBef>
                <a:spcPts val="800"/>
              </a:spcBef>
            </a:pPr>
            <a:r>
              <a:rPr lang="en-US" sz="2400" b="0">
                <a:solidFill>
                  <a:srgbClr val="1A1A1A"/>
                </a:solidFill>
                <a:latin typeface="Calibri"/>
              </a:rPr>
              <a:t>- </a:t>
            </a:r>
            <a:r>
              <a:rPr sz="2400" b="0">
                <a:solidFill>
                  <a:srgbClr val="1A1A1A"/>
                </a:solidFill>
                <a:latin typeface="Calibri"/>
              </a:rPr>
              <a:t>Clustering is useful when labels are unavailable — many real-world datasets have no ground-truth class information.</a:t>
            </a:r>
          </a:p>
          <a:p>
            <a:pPr algn="l">
              <a:spcBef>
                <a:spcPts val="800"/>
              </a:spcBef>
            </a:pPr>
            <a:r>
              <a:rPr lang="en-US" sz="2400" b="0">
                <a:solidFill>
                  <a:srgbClr val="1A1A1A"/>
                </a:solidFill>
                <a:latin typeface="Calibri"/>
              </a:rPr>
              <a:t>- </a:t>
            </a:r>
            <a:r>
              <a:rPr sz="2400" b="0">
                <a:solidFill>
                  <a:srgbClr val="1A1A1A"/>
                </a:solidFill>
                <a:latin typeface="Calibri"/>
              </a:rPr>
              <a:t>Classical methods struggle on tabular data: mixed feature types, noise, and nonlinear relationships make raw features poor inputs for k-means.</a:t>
            </a:r>
          </a:p>
          <a:p>
            <a:pPr algn="l">
              <a:spcBef>
                <a:spcPts val="800"/>
              </a:spcBef>
            </a:pPr>
            <a:r>
              <a:rPr lang="en-US" sz="2400" b="0">
                <a:solidFill>
                  <a:srgbClr val="1A1A1A"/>
                </a:solidFill>
                <a:latin typeface="Calibri"/>
              </a:rPr>
              <a:t>- </a:t>
            </a:r>
            <a:r>
              <a:rPr sz="2400" b="0">
                <a:solidFill>
                  <a:srgbClr val="1A1A1A"/>
                </a:solidFill>
                <a:latin typeface="Calibri"/>
              </a:rPr>
              <a:t>Deep clustering addresses this by learning a latent representation that is easier to cluster — a neural network maps raw features to a compact space first.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47120" cy="777240"/>
          </a:xfrm>
          <a:prstGeom prst="rect">
            <a:avLst/>
          </a:prstGeom>
          <a:noFill/>
        </p:spPr>
        <p:txBody>
          <a:bodyPr wrap="none">
            <a:spAutoFit/>
          </a:bodyPr>
          <a:lstStyle/>
          <a:p>
            <a:pPr algn="l"/>
            <a:r>
              <a:rPr sz="3600" b="1">
                <a:solidFill>
                  <a:srgbClr val="003366"/>
                </a:solidFill>
                <a:latin typeface="Calibri"/>
              </a:rPr>
              <a:t>Motivation</a:t>
            </a:r>
          </a:p>
        </p:txBody>
      </p:sp>
      <p:sp>
        <p:nvSpPr>
          <p:cNvPr id="3" name="Rectangle 2"/>
          <p:cNvSpPr/>
          <p:nvPr/>
        </p:nvSpPr>
        <p:spPr>
          <a:xfrm>
            <a:off x="457200" y="1124712"/>
            <a:ext cx="112471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17320"/>
            <a:ext cx="11247120" cy="2513509"/>
          </a:xfrm>
          <a:prstGeom prst="rect">
            <a:avLst/>
          </a:prstGeom>
          <a:noFill/>
        </p:spPr>
        <p:txBody>
          <a:bodyPr wrap="square">
            <a:spAutoFit/>
          </a:bodyPr>
          <a:lstStyle/>
          <a:p>
            <a:pPr marL="342900" indent="-342900" algn="l">
              <a:spcBef>
                <a:spcPts val="800"/>
              </a:spcBef>
              <a:buFont typeface="Arial" panose="020B0604020202020204" pitchFamily="34" charset="0"/>
              <a:buChar char="•"/>
            </a:pPr>
            <a:r>
              <a:rPr sz="2400" b="1">
                <a:solidFill>
                  <a:srgbClr val="1A1A1A"/>
                </a:solidFill>
                <a:latin typeface="Calibri"/>
              </a:rPr>
              <a:t>Contrastive learning</a:t>
            </a:r>
            <a:r>
              <a:rPr sz="2400" b="0">
                <a:solidFill>
                  <a:srgbClr val="1A1A1A"/>
                </a:solidFill>
                <a:latin typeface="Calibri"/>
              </a:rPr>
              <a:t> builds robust representations by pulling augmented views of the same sample together and pushing different samples apart.</a:t>
            </a:r>
          </a:p>
          <a:p>
            <a:pPr marL="342900" indent="-342900" algn="l">
              <a:spcBef>
                <a:spcPts val="800"/>
              </a:spcBef>
              <a:buFont typeface="Arial" panose="020B0604020202020204" pitchFamily="34" charset="0"/>
              <a:buChar char="•"/>
            </a:pPr>
            <a:r>
              <a:rPr sz="2400" b="0">
                <a:solidFill>
                  <a:srgbClr val="1A1A1A"/>
                </a:solidFill>
                <a:latin typeface="Calibri"/>
              </a:rPr>
              <a:t>In </a:t>
            </a:r>
            <a:r>
              <a:rPr sz="2400" b="1">
                <a:solidFill>
                  <a:srgbClr val="1A1A1A"/>
                </a:solidFill>
                <a:latin typeface="Calibri"/>
              </a:rPr>
              <a:t>computer vision</a:t>
            </a:r>
            <a:r>
              <a:rPr sz="2400" b="0">
                <a:solidFill>
                  <a:srgbClr val="1A1A1A"/>
                </a:solidFill>
                <a:latin typeface="Calibri"/>
              </a:rPr>
              <a:t>, standard augmentations are well-established: random crop, flip, colour jitter — each preserves semantic content.</a:t>
            </a:r>
          </a:p>
          <a:p>
            <a:pPr marL="342900" indent="-342900" algn="l">
              <a:spcBef>
                <a:spcPts val="800"/>
              </a:spcBef>
              <a:buFont typeface="Arial" panose="020B0604020202020204" pitchFamily="34" charset="0"/>
              <a:buChar char="•"/>
            </a:pPr>
            <a:r>
              <a:rPr sz="2400" b="0">
                <a:solidFill>
                  <a:srgbClr val="1A1A1A"/>
                </a:solidFill>
                <a:latin typeface="Calibri"/>
              </a:rPr>
              <a:t>For tabular data, no consensus exists: some augmentations may destroy the cluster structure rather than preserve it, making the choice non-trivial.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47120" cy="777240"/>
          </a:xfrm>
          <a:prstGeom prst="rect">
            <a:avLst/>
          </a:prstGeom>
          <a:noFill/>
        </p:spPr>
        <p:txBody>
          <a:bodyPr wrap="none">
            <a:spAutoFit/>
          </a:bodyPr>
          <a:lstStyle/>
          <a:p>
            <a:pPr algn="l"/>
            <a:r>
              <a:rPr sz="3600" b="1">
                <a:solidFill>
                  <a:srgbClr val="003366"/>
                </a:solidFill>
                <a:latin typeface="Calibri"/>
              </a:rPr>
              <a:t>Research Question</a:t>
            </a:r>
          </a:p>
        </p:txBody>
      </p:sp>
      <p:sp>
        <p:nvSpPr>
          <p:cNvPr id="3" name="Rectangle 2"/>
          <p:cNvSpPr/>
          <p:nvPr/>
        </p:nvSpPr>
        <p:spPr>
          <a:xfrm>
            <a:off x="457200" y="1124712"/>
            <a:ext cx="112471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554480"/>
            <a:ext cx="10698480" cy="2743200"/>
          </a:xfrm>
          <a:prstGeom prst="rect">
            <a:avLst/>
          </a:prstGeom>
          <a:solidFill>
            <a:srgbClr val="F2F2F2"/>
          </a:solidFill>
          <a:ln>
            <a:solidFill>
              <a:srgbClr val="00336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2000"/>
              </a:spcBef>
            </a:pPr>
            <a:r>
              <a:rPr sz="2600" b="1">
                <a:solidFill>
                  <a:srgbClr val="003366"/>
                </a:solidFill>
                <a:latin typeface="Calibri"/>
              </a:rPr>
              <a:t>Which tabular augmentation techniques are most effective for learning cluster-friendly representations with contrastive learning, and how do they impact deep clustering performance?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47120" cy="777240"/>
          </a:xfrm>
          <a:prstGeom prst="rect">
            <a:avLst/>
          </a:prstGeom>
          <a:noFill/>
        </p:spPr>
        <p:txBody>
          <a:bodyPr wrap="none">
            <a:spAutoFit/>
          </a:bodyPr>
          <a:lstStyle/>
          <a:p>
            <a:pPr algn="l"/>
            <a:r>
              <a:rPr sz="3600" b="1">
                <a:solidFill>
                  <a:srgbClr val="003366"/>
                </a:solidFill>
                <a:latin typeface="Calibri"/>
              </a:rPr>
              <a:t>Approach</a:t>
            </a:r>
          </a:p>
        </p:txBody>
      </p:sp>
      <p:sp>
        <p:nvSpPr>
          <p:cNvPr id="3" name="Rectangle 2"/>
          <p:cNvSpPr/>
          <p:nvPr/>
        </p:nvSpPr>
        <p:spPr>
          <a:xfrm>
            <a:off x="457200" y="1124712"/>
            <a:ext cx="112471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02920" y="1417320"/>
            <a:ext cx="1737360" cy="10515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latin typeface="Calibri"/>
              </a:rPr>
              <a:t>Raw
Tabular
Data</a:t>
            </a:r>
          </a:p>
        </p:txBody>
      </p:sp>
      <p:sp>
        <p:nvSpPr>
          <p:cNvPr id="5" name="Rectangle 4"/>
          <p:cNvSpPr/>
          <p:nvPr/>
        </p:nvSpPr>
        <p:spPr>
          <a:xfrm>
            <a:off x="2249424" y="1892808"/>
            <a:ext cx="265176" cy="5486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487168" y="1801368"/>
            <a:ext cx="164592" cy="237744"/>
          </a:xfrm>
          <a:prstGeom prst="round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532887" y="1417320"/>
            <a:ext cx="1737360" cy="10515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latin typeface="Calibri"/>
              </a:rPr>
              <a:t>Augmentation
(masking /
noise /
swapping)</a:t>
            </a:r>
          </a:p>
        </p:txBody>
      </p:sp>
      <p:sp>
        <p:nvSpPr>
          <p:cNvPr id="8" name="Rectangle 7"/>
          <p:cNvSpPr/>
          <p:nvPr/>
        </p:nvSpPr>
        <p:spPr>
          <a:xfrm>
            <a:off x="4279392" y="1892808"/>
            <a:ext cx="265176" cy="5486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517136" y="1801368"/>
            <a:ext cx="164592" cy="237744"/>
          </a:xfrm>
          <a:prstGeom prst="round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62855" y="1417320"/>
            <a:ext cx="1737360" cy="10515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latin typeface="Calibri"/>
              </a:rPr>
              <a:t>MLP
Encoder</a:t>
            </a:r>
          </a:p>
        </p:txBody>
      </p:sp>
      <p:sp>
        <p:nvSpPr>
          <p:cNvPr id="11" name="Rectangle 10"/>
          <p:cNvSpPr/>
          <p:nvPr/>
        </p:nvSpPr>
        <p:spPr>
          <a:xfrm>
            <a:off x="6309359" y="1892808"/>
            <a:ext cx="265176" cy="5486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547103" y="1801368"/>
            <a:ext cx="164592" cy="237744"/>
          </a:xfrm>
          <a:prstGeom prst="round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592823" y="1417320"/>
            <a:ext cx="1737360" cy="10515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latin typeface="Calibri"/>
              </a:rPr>
              <a:t>k-means
Clustering</a:t>
            </a:r>
          </a:p>
        </p:txBody>
      </p:sp>
      <p:sp>
        <p:nvSpPr>
          <p:cNvPr id="14" name="Rectangle 13"/>
          <p:cNvSpPr/>
          <p:nvPr/>
        </p:nvSpPr>
        <p:spPr>
          <a:xfrm>
            <a:off x="8339327" y="1892808"/>
            <a:ext cx="265176" cy="54864"/>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577072" y="1801368"/>
            <a:ext cx="164592" cy="237744"/>
          </a:xfrm>
          <a:prstGeom prst="round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622792" y="1417320"/>
            <a:ext cx="1737360" cy="10515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FFFFFF"/>
                </a:solidFill>
                <a:latin typeface="Calibri"/>
              </a:rPr>
              <a:t>Evaluate
NMI / ARI</a:t>
            </a:r>
          </a:p>
        </p:txBody>
      </p:sp>
      <p:sp>
        <p:nvSpPr>
          <p:cNvPr id="17" name="TextBox 16"/>
          <p:cNvSpPr txBox="1"/>
          <p:nvPr/>
        </p:nvSpPr>
        <p:spPr>
          <a:xfrm>
            <a:off x="457200" y="2697480"/>
            <a:ext cx="11247120" cy="1836400"/>
          </a:xfrm>
          <a:prstGeom prst="rect">
            <a:avLst/>
          </a:prstGeom>
          <a:noFill/>
        </p:spPr>
        <p:txBody>
          <a:bodyPr wrap="square">
            <a:spAutoFit/>
          </a:bodyPr>
          <a:lstStyle/>
          <a:p>
            <a:pPr marL="342900" indent="-342900" algn="l">
              <a:spcBef>
                <a:spcPts val="800"/>
              </a:spcBef>
              <a:buFont typeface="Arial" panose="020B0604020202020204" pitchFamily="34" charset="0"/>
              <a:buChar char="•"/>
            </a:pPr>
            <a:r>
              <a:rPr sz="2000" b="0">
                <a:solidFill>
                  <a:srgbClr val="1A1A1A"/>
                </a:solidFill>
                <a:latin typeface="Calibri"/>
              </a:rPr>
              <a:t>Feature masking (SCARF-style)  —  randomly corrupt a fraction of features by replacing them with values drawn from the marginal distribution</a:t>
            </a:r>
          </a:p>
          <a:p>
            <a:pPr marL="342900" indent="-342900" algn="l">
              <a:spcBef>
                <a:spcPts val="800"/>
              </a:spcBef>
              <a:buFont typeface="Arial" panose="020B0604020202020204" pitchFamily="34" charset="0"/>
              <a:buChar char="•"/>
            </a:pPr>
            <a:r>
              <a:rPr sz="2000" b="0">
                <a:solidFill>
                  <a:srgbClr val="1A1A1A"/>
                </a:solidFill>
                <a:latin typeface="Calibri"/>
              </a:rPr>
              <a:t>Gaussian noise  —  add small random noise to numerical features; leaves categorical features unchanged</a:t>
            </a:r>
          </a:p>
          <a:p>
            <a:pPr marL="342900" indent="-342900" algn="l">
              <a:spcBef>
                <a:spcPts val="800"/>
              </a:spcBef>
              <a:buFont typeface="Arial" panose="020B0604020202020204" pitchFamily="34" charset="0"/>
              <a:buChar char="•"/>
            </a:pPr>
            <a:r>
              <a:rPr sz="2000" b="0">
                <a:solidFill>
                  <a:srgbClr val="1A1A1A"/>
                </a:solidFill>
                <a:latin typeface="Calibri"/>
              </a:rPr>
              <a:t>Feature swapping  —  swap feature values between randomly selected samples in the same batch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47120" cy="777240"/>
          </a:xfrm>
          <a:prstGeom prst="rect">
            <a:avLst/>
          </a:prstGeom>
          <a:noFill/>
        </p:spPr>
        <p:txBody>
          <a:bodyPr wrap="none">
            <a:spAutoFit/>
          </a:bodyPr>
          <a:lstStyle/>
          <a:p>
            <a:pPr algn="l"/>
            <a:r>
              <a:rPr sz="3600" b="1">
                <a:solidFill>
                  <a:srgbClr val="003366"/>
                </a:solidFill>
                <a:latin typeface="Calibri"/>
              </a:rPr>
              <a:t>Timeline</a:t>
            </a:r>
          </a:p>
        </p:txBody>
      </p:sp>
      <p:sp>
        <p:nvSpPr>
          <p:cNvPr id="3" name="Rectangle 2"/>
          <p:cNvSpPr/>
          <p:nvPr/>
        </p:nvSpPr>
        <p:spPr>
          <a:xfrm>
            <a:off x="457200" y="1124712"/>
            <a:ext cx="112471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371600"/>
            <a:ext cx="2926080" cy="42062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Phase</a:t>
            </a:r>
          </a:p>
        </p:txBody>
      </p:sp>
      <p:sp>
        <p:nvSpPr>
          <p:cNvPr id="5" name="Rectangle 4"/>
          <p:cNvSpPr/>
          <p:nvPr/>
        </p:nvSpPr>
        <p:spPr>
          <a:xfrm>
            <a:off x="3429000" y="1371600"/>
            <a:ext cx="2560320" cy="42062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Period</a:t>
            </a:r>
          </a:p>
        </p:txBody>
      </p:sp>
      <p:sp>
        <p:nvSpPr>
          <p:cNvPr id="6" name="Rectangle 5"/>
          <p:cNvSpPr/>
          <p:nvPr/>
        </p:nvSpPr>
        <p:spPr>
          <a:xfrm>
            <a:off x="6035040" y="1371600"/>
            <a:ext cx="4023360" cy="42062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Focus</a:t>
            </a:r>
          </a:p>
        </p:txBody>
      </p:sp>
      <p:sp>
        <p:nvSpPr>
          <p:cNvPr id="7" name="Rectangle 6"/>
          <p:cNvSpPr/>
          <p:nvPr/>
        </p:nvSpPr>
        <p:spPr>
          <a:xfrm>
            <a:off x="10104120" y="1371600"/>
            <a:ext cx="1463040" cy="42062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Calibri"/>
              </a:rPr>
              <a:t>Milestone</a:t>
            </a:r>
          </a:p>
        </p:txBody>
      </p:sp>
      <p:sp>
        <p:nvSpPr>
          <p:cNvPr id="8" name="Rectangle 7"/>
          <p:cNvSpPr/>
          <p:nvPr/>
        </p:nvSpPr>
        <p:spPr>
          <a:xfrm>
            <a:off x="457200" y="1792224"/>
            <a:ext cx="2926080" cy="658368"/>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500" b="1">
                <a:solidFill>
                  <a:srgbClr val="1A1A1A"/>
                </a:solidFill>
                <a:latin typeface="Calibri"/>
              </a:rPr>
              <a:t>Preparation</a:t>
            </a:r>
          </a:p>
        </p:txBody>
      </p:sp>
      <p:sp>
        <p:nvSpPr>
          <p:cNvPr id="9" name="Rectangle 8"/>
          <p:cNvSpPr/>
          <p:nvPr/>
        </p:nvSpPr>
        <p:spPr>
          <a:xfrm>
            <a:off x="3429000" y="1792224"/>
            <a:ext cx="2560320" cy="658368"/>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500" b="0">
                <a:solidFill>
                  <a:srgbClr val="1A1A1A"/>
                </a:solidFill>
                <a:latin typeface="Calibri"/>
              </a:rPr>
              <a:t>until </a:t>
            </a:r>
            <a:r>
              <a:rPr lang="en-US" sz="1500" b="0">
                <a:solidFill>
                  <a:srgbClr val="1A1A1A"/>
                </a:solidFill>
                <a:latin typeface="Calibri"/>
              </a:rPr>
              <a:t>now</a:t>
            </a:r>
            <a:endParaRPr sz="1500" b="0">
              <a:solidFill>
                <a:srgbClr val="1A1A1A"/>
              </a:solidFill>
              <a:latin typeface="Calibri"/>
            </a:endParaRPr>
          </a:p>
        </p:txBody>
      </p:sp>
      <p:sp>
        <p:nvSpPr>
          <p:cNvPr id="10" name="Rectangle 9"/>
          <p:cNvSpPr/>
          <p:nvPr/>
        </p:nvSpPr>
        <p:spPr>
          <a:xfrm>
            <a:off x="6035040" y="1792224"/>
            <a:ext cx="4023360" cy="658368"/>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500" b="0">
                <a:solidFill>
                  <a:srgbClr val="1A1A1A"/>
                </a:solidFill>
                <a:latin typeface="Calibri"/>
              </a:rPr>
              <a:t>Tool onboarding: Python, PyTorch</a:t>
            </a:r>
          </a:p>
        </p:txBody>
      </p:sp>
      <p:sp>
        <p:nvSpPr>
          <p:cNvPr id="11" name="Rectangle 10"/>
          <p:cNvSpPr/>
          <p:nvPr/>
        </p:nvSpPr>
        <p:spPr>
          <a:xfrm>
            <a:off x="10104120" y="1792224"/>
            <a:ext cx="1463040" cy="658368"/>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457200" y="2487168"/>
            <a:ext cx="2926080" cy="658368"/>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500" b="1">
                <a:solidFill>
                  <a:srgbClr val="1A1A1A"/>
                </a:solidFill>
                <a:latin typeface="Calibri"/>
              </a:rPr>
              <a:t>Phase A  Literature</a:t>
            </a:r>
          </a:p>
        </p:txBody>
      </p:sp>
      <p:sp>
        <p:nvSpPr>
          <p:cNvPr id="13" name="Rectangle 12"/>
          <p:cNvSpPr/>
          <p:nvPr/>
        </p:nvSpPr>
        <p:spPr>
          <a:xfrm>
            <a:off x="3429000" y="2487168"/>
            <a:ext cx="2560320" cy="658368"/>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500" b="0">
                <a:solidFill>
                  <a:srgbClr val="1A1A1A"/>
                </a:solidFill>
                <a:latin typeface="Calibri"/>
              </a:rPr>
              <a:t>15–28 Jun  (Wk 1–2)</a:t>
            </a:r>
          </a:p>
        </p:txBody>
      </p:sp>
      <p:sp>
        <p:nvSpPr>
          <p:cNvPr id="14" name="Rectangle 13"/>
          <p:cNvSpPr/>
          <p:nvPr/>
        </p:nvSpPr>
        <p:spPr>
          <a:xfrm>
            <a:off x="6035040" y="2487168"/>
            <a:ext cx="4023360" cy="658368"/>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500" b="0">
                <a:solidFill>
                  <a:srgbClr val="1A1A1A"/>
                </a:solidFill>
                <a:latin typeface="Calibri"/>
              </a:rPr>
              <a:t>Literature review &amp; methodology design</a:t>
            </a:r>
          </a:p>
        </p:txBody>
      </p:sp>
      <p:sp>
        <p:nvSpPr>
          <p:cNvPr id="15" name="Rectangle 14"/>
          <p:cNvSpPr/>
          <p:nvPr/>
        </p:nvSpPr>
        <p:spPr>
          <a:xfrm>
            <a:off x="10104120" y="2487168"/>
            <a:ext cx="1463040" cy="658368"/>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0">
                <a:solidFill>
                  <a:srgbClr val="C89620"/>
                </a:solidFill>
                <a:latin typeface="Calibri"/>
              </a:rPr>
              <a:t>M1 · PyTorch ready (21 Jun)</a:t>
            </a:r>
          </a:p>
        </p:txBody>
      </p:sp>
      <p:sp>
        <p:nvSpPr>
          <p:cNvPr id="16" name="Rectangle 15"/>
          <p:cNvSpPr/>
          <p:nvPr/>
        </p:nvSpPr>
        <p:spPr>
          <a:xfrm>
            <a:off x="457200" y="3182112"/>
            <a:ext cx="2926080" cy="658368"/>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500" b="1">
                <a:solidFill>
                  <a:srgbClr val="1A1A1A"/>
                </a:solidFill>
                <a:latin typeface="Calibri"/>
              </a:rPr>
              <a:t>Phase B  Implementation</a:t>
            </a:r>
          </a:p>
        </p:txBody>
      </p:sp>
      <p:sp>
        <p:nvSpPr>
          <p:cNvPr id="17" name="Rectangle 16"/>
          <p:cNvSpPr/>
          <p:nvPr/>
        </p:nvSpPr>
        <p:spPr>
          <a:xfrm>
            <a:off x="3429000" y="3182112"/>
            <a:ext cx="2560320" cy="658368"/>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500" b="0">
                <a:solidFill>
                  <a:srgbClr val="1A1A1A"/>
                </a:solidFill>
                <a:latin typeface="Calibri"/>
              </a:rPr>
              <a:t>29 Jun–19 Jul  (Wk 3–5)</a:t>
            </a:r>
          </a:p>
        </p:txBody>
      </p:sp>
      <p:sp>
        <p:nvSpPr>
          <p:cNvPr id="18" name="Rectangle 17"/>
          <p:cNvSpPr/>
          <p:nvPr/>
        </p:nvSpPr>
        <p:spPr>
          <a:xfrm>
            <a:off x="6035040" y="3182112"/>
            <a:ext cx="4023360" cy="658368"/>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500" b="0">
                <a:solidFill>
                  <a:srgbClr val="1A1A1A"/>
                </a:solidFill>
                <a:latin typeface="Calibri"/>
              </a:rPr>
              <a:t>Build benchmark pipeline</a:t>
            </a:r>
          </a:p>
        </p:txBody>
      </p:sp>
      <p:sp>
        <p:nvSpPr>
          <p:cNvPr id="19" name="Rectangle 18"/>
          <p:cNvSpPr/>
          <p:nvPr/>
        </p:nvSpPr>
        <p:spPr>
          <a:xfrm>
            <a:off x="10104120" y="3182112"/>
            <a:ext cx="1463040" cy="658368"/>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GB" sz="1400">
                <a:solidFill>
                  <a:srgbClr val="C89620"/>
                </a:solidFill>
              </a:rPr>
              <a:t>M3 · MVP pipeline (12 Jul)</a:t>
            </a:r>
          </a:p>
        </p:txBody>
      </p:sp>
      <p:sp>
        <p:nvSpPr>
          <p:cNvPr id="20" name="Rectangle 19"/>
          <p:cNvSpPr/>
          <p:nvPr/>
        </p:nvSpPr>
        <p:spPr>
          <a:xfrm>
            <a:off x="457200" y="3877056"/>
            <a:ext cx="2926080" cy="658368"/>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500" b="1">
                <a:solidFill>
                  <a:srgbClr val="1A1A1A"/>
                </a:solidFill>
                <a:latin typeface="Calibri"/>
              </a:rPr>
              <a:t>Phase C  Experiments</a:t>
            </a:r>
          </a:p>
        </p:txBody>
      </p:sp>
      <p:sp>
        <p:nvSpPr>
          <p:cNvPr id="21" name="Rectangle 20"/>
          <p:cNvSpPr/>
          <p:nvPr/>
        </p:nvSpPr>
        <p:spPr>
          <a:xfrm>
            <a:off x="3429000" y="3877056"/>
            <a:ext cx="2560320" cy="658368"/>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500" b="0">
                <a:solidFill>
                  <a:srgbClr val="1A1A1A"/>
                </a:solidFill>
                <a:latin typeface="Calibri"/>
              </a:rPr>
              <a:t>20 Jul–2 Aug  (Wk 6–7)</a:t>
            </a:r>
          </a:p>
        </p:txBody>
      </p:sp>
      <p:sp>
        <p:nvSpPr>
          <p:cNvPr id="22" name="Rectangle 21"/>
          <p:cNvSpPr/>
          <p:nvPr/>
        </p:nvSpPr>
        <p:spPr>
          <a:xfrm>
            <a:off x="6035040" y="3877056"/>
            <a:ext cx="4023360" cy="658368"/>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500" b="0">
                <a:solidFill>
                  <a:srgbClr val="1A1A1A"/>
                </a:solidFill>
                <a:latin typeface="Calibri"/>
              </a:rPr>
              <a:t>Run experiments &amp; sensitivity studies</a:t>
            </a:r>
          </a:p>
        </p:txBody>
      </p:sp>
      <p:sp>
        <p:nvSpPr>
          <p:cNvPr id="23" name="Rectangle 22"/>
          <p:cNvSpPr/>
          <p:nvPr/>
        </p:nvSpPr>
        <p:spPr>
          <a:xfrm>
            <a:off x="10104120" y="3877056"/>
            <a:ext cx="1463040" cy="658368"/>
          </a:xfrm>
          <a:prstGeom prst="rect">
            <a:avLst/>
          </a:prstGeom>
          <a:solidFill>
            <a:srgbClr val="FFFFFF"/>
          </a:solidFill>
          <a:ln>
            <a:solidFill>
              <a:srgbClr val="F2F2F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500" b="0">
                <a:solidFill>
                  <a:srgbClr val="C89620"/>
                </a:solidFill>
                <a:latin typeface="Calibri"/>
              </a:rPr>
              <a:t>M4 Results and first draft (16 Aug)</a:t>
            </a:r>
            <a:endParaRPr sz="1500" b="0">
              <a:solidFill>
                <a:srgbClr val="C89620"/>
              </a:solidFill>
              <a:latin typeface="Calibri"/>
            </a:endParaRPr>
          </a:p>
        </p:txBody>
      </p:sp>
      <p:sp>
        <p:nvSpPr>
          <p:cNvPr id="24" name="Rectangle 23"/>
          <p:cNvSpPr/>
          <p:nvPr/>
        </p:nvSpPr>
        <p:spPr>
          <a:xfrm>
            <a:off x="457200" y="4572000"/>
            <a:ext cx="2926080" cy="658368"/>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500" b="1">
                <a:solidFill>
                  <a:srgbClr val="1A1A1A"/>
                </a:solidFill>
                <a:latin typeface="Calibri"/>
              </a:rPr>
              <a:t>Phase D–E  Writing &amp; Submission</a:t>
            </a:r>
          </a:p>
        </p:txBody>
      </p:sp>
      <p:sp>
        <p:nvSpPr>
          <p:cNvPr id="25" name="Rectangle 24"/>
          <p:cNvSpPr/>
          <p:nvPr/>
        </p:nvSpPr>
        <p:spPr>
          <a:xfrm>
            <a:off x="3429000" y="4572000"/>
            <a:ext cx="2560320" cy="658368"/>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500" b="0">
                <a:solidFill>
                  <a:srgbClr val="1A1A1A"/>
                </a:solidFill>
                <a:latin typeface="Calibri"/>
              </a:rPr>
              <a:t>3–23 Aug  (Wk 8–10)</a:t>
            </a:r>
          </a:p>
        </p:txBody>
      </p:sp>
      <p:sp>
        <p:nvSpPr>
          <p:cNvPr id="26" name="Rectangle 25"/>
          <p:cNvSpPr/>
          <p:nvPr/>
        </p:nvSpPr>
        <p:spPr>
          <a:xfrm>
            <a:off x="6035040" y="4572000"/>
            <a:ext cx="4023360" cy="658368"/>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500" b="0">
                <a:solidFill>
                  <a:srgbClr val="1A1A1A"/>
                </a:solidFill>
                <a:latin typeface="Calibri"/>
              </a:rPr>
              <a:t>Write thesis · submit 23 Aug 2026</a:t>
            </a:r>
          </a:p>
        </p:txBody>
      </p:sp>
      <p:sp>
        <p:nvSpPr>
          <p:cNvPr id="27" name="Rectangle 26"/>
          <p:cNvSpPr/>
          <p:nvPr/>
        </p:nvSpPr>
        <p:spPr>
          <a:xfrm>
            <a:off x="10104120" y="4572000"/>
            <a:ext cx="1463040" cy="658368"/>
          </a:xfrm>
          <a:prstGeom prst="rect">
            <a:avLst/>
          </a:prstGeom>
          <a:solidFill>
            <a:srgbClr val="F2F2F2"/>
          </a:solidFill>
          <a:ln>
            <a:solidFill>
              <a:srgbClr val="F2F2F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0">
                <a:solidFill>
                  <a:srgbClr val="C89620"/>
                </a:solidFill>
                <a:latin typeface="Calibri"/>
              </a:rPr>
              <a:t>M6 · Submission (23 Aug)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47120" cy="777240"/>
          </a:xfrm>
          <a:prstGeom prst="rect">
            <a:avLst/>
          </a:prstGeom>
          <a:noFill/>
        </p:spPr>
        <p:txBody>
          <a:bodyPr wrap="none">
            <a:spAutoFit/>
          </a:bodyPr>
          <a:lstStyle/>
          <a:p>
            <a:pPr algn="l"/>
            <a:r>
              <a:rPr sz="3600" b="1">
                <a:solidFill>
                  <a:srgbClr val="003366"/>
                </a:solidFill>
                <a:latin typeface="Calibri"/>
              </a:rPr>
              <a:t>Expected Challenges</a:t>
            </a:r>
          </a:p>
        </p:txBody>
      </p:sp>
      <p:sp>
        <p:nvSpPr>
          <p:cNvPr id="3" name="Rectangle 2"/>
          <p:cNvSpPr/>
          <p:nvPr/>
        </p:nvSpPr>
        <p:spPr>
          <a:xfrm>
            <a:off x="457200" y="1124712"/>
            <a:ext cx="112471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17320"/>
            <a:ext cx="11247120" cy="4937760"/>
          </a:xfrm>
          <a:prstGeom prst="rect">
            <a:avLst/>
          </a:prstGeom>
          <a:noFill/>
        </p:spPr>
        <p:txBody>
          <a:bodyPr wrap="square">
            <a:spAutoFit/>
          </a:bodyPr>
          <a:lstStyle/>
          <a:p>
            <a:pPr algn="l">
              <a:spcBef>
                <a:spcPts val="800"/>
              </a:spcBef>
            </a:pPr>
            <a:r>
              <a:rPr sz="2200" b="0">
                <a:solidFill>
                  <a:srgbClr val="1A1A1A"/>
                </a:solidFill>
                <a:latin typeface="Calibri"/>
              </a:rPr>
              <a:t>PyTorch learning curve — contrastive loss (NT-Xent/InfoNCE) and training loop are new; fully addressed in the preparation phase before the official start date.</a:t>
            </a:r>
          </a:p>
          <a:p>
            <a:pPr algn="l">
              <a:spcBef>
                <a:spcPts val="800"/>
              </a:spcBef>
            </a:pPr>
            <a:r>
              <a:rPr sz="2200" b="0">
                <a:solidFill>
                  <a:srgbClr val="1A1A1A"/>
                </a:solidFill>
                <a:latin typeface="Calibri"/>
              </a:rPr>
              <a:t>Mixed feature types — Gaussian noise suits numerical features; categorical features require masking or swapping instead; augmentation must handle both correctly.</a:t>
            </a:r>
          </a:p>
          <a:p>
            <a:pPr algn="l">
              <a:spcBef>
                <a:spcPts val="800"/>
              </a:spcBef>
            </a:pPr>
            <a:r>
              <a:rPr sz="2200" b="0">
                <a:solidFill>
                  <a:srgbClr val="1A1A1A"/>
                </a:solidFill>
                <a:latin typeface="Calibri"/>
              </a:rPr>
              <a:t>Dataset selection — NMI and ARI require ground-truth labels; selecting 3–4 appropriate OpenML/UCI datasets with labels is a deliberate design choice.</a:t>
            </a:r>
          </a:p>
          <a:p>
            <a:pPr algn="l">
              <a:spcBef>
                <a:spcPts val="800"/>
              </a:spcBef>
            </a:pPr>
            <a:r>
              <a:rPr sz="2200" b="0">
                <a:solidFill>
                  <a:srgbClr val="1A1A1A"/>
                </a:solidFill>
                <a:latin typeface="Calibri"/>
              </a:rPr>
              <a:t>Negative transfer risk — augmentations that help representation learning in vision may destroy tabular cluster boundaries; identifying failure cases is a core research goal.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1247120" cy="777240"/>
          </a:xfrm>
          <a:prstGeom prst="rect">
            <a:avLst/>
          </a:prstGeom>
          <a:noFill/>
        </p:spPr>
        <p:txBody>
          <a:bodyPr wrap="none">
            <a:spAutoFit/>
          </a:bodyPr>
          <a:lstStyle/>
          <a:p>
            <a:pPr algn="l"/>
            <a:r>
              <a:rPr sz="3600" b="1">
                <a:solidFill>
                  <a:srgbClr val="003366"/>
                </a:solidFill>
                <a:latin typeface="Calibri"/>
              </a:rPr>
              <a:t>Summary</a:t>
            </a:r>
          </a:p>
        </p:txBody>
      </p:sp>
      <p:sp>
        <p:nvSpPr>
          <p:cNvPr id="3" name="Rectangle 2"/>
          <p:cNvSpPr/>
          <p:nvPr/>
        </p:nvSpPr>
        <p:spPr>
          <a:xfrm>
            <a:off x="457200" y="1124712"/>
            <a:ext cx="112471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417320"/>
            <a:ext cx="11247120" cy="3334246"/>
          </a:xfrm>
          <a:prstGeom prst="rect">
            <a:avLst/>
          </a:prstGeom>
          <a:noFill/>
        </p:spPr>
        <p:txBody>
          <a:bodyPr wrap="square">
            <a:spAutoFit/>
          </a:bodyPr>
          <a:lstStyle/>
          <a:p>
            <a:pPr algn="l">
              <a:spcBef>
                <a:spcPts val="800"/>
              </a:spcBef>
            </a:pPr>
            <a:r>
              <a:rPr sz="2300" b="0">
                <a:solidFill>
                  <a:srgbClr val="1A1A1A"/>
                </a:solidFill>
                <a:latin typeface="Calibri"/>
              </a:rPr>
              <a:t>Research question: which tabular augmentation techniques best support cluster-friendly representations with contrastive learning?</a:t>
            </a:r>
          </a:p>
          <a:p>
            <a:pPr algn="l">
              <a:spcBef>
                <a:spcPts val="800"/>
              </a:spcBef>
            </a:pPr>
            <a:r>
              <a:rPr sz="2300" b="0">
                <a:solidFill>
                  <a:srgbClr val="1A1A1A"/>
                </a:solidFill>
                <a:latin typeface="Calibri"/>
              </a:rPr>
              <a:t>Approach: benchmark three augmentations (feature masking, Gaussian noise, feature swapping) through a fixed MLP → k-means pipeline, evaluated by NMI and ARI.</a:t>
            </a:r>
          </a:p>
          <a:p>
            <a:pPr algn="l">
              <a:spcBef>
                <a:spcPts val="800"/>
              </a:spcBef>
            </a:pPr>
            <a:r>
              <a:rPr sz="2300" b="0">
                <a:solidFill>
                  <a:srgbClr val="1A1A1A"/>
                </a:solidFill>
                <a:latin typeface="Calibri"/>
              </a:rPr>
              <a:t>Timeline: preparation complete by 14 Jun · official phase 15 Jun–23 Aug 2026 · six verifiable milestones.</a:t>
            </a:r>
            <a:endParaRPr lang="en-US" sz="2300" b="0">
              <a:solidFill>
                <a:srgbClr val="1A1A1A"/>
              </a:solidFill>
              <a:latin typeface="Calibri"/>
            </a:endParaRPr>
          </a:p>
          <a:p>
            <a:pPr algn="l">
              <a:spcBef>
                <a:spcPts val="800"/>
              </a:spcBef>
            </a:pPr>
            <a:endParaRPr sz="2300" b="0">
              <a:solidFill>
                <a:srgbClr val="1A1A1A"/>
              </a:solidFill>
              <a:latin typeface="Calibri"/>
            </a:endParaRPr>
          </a:p>
          <a:p>
            <a:pPr algn="l">
              <a:spcBef>
                <a:spcPts val="800"/>
              </a:spcBef>
            </a:pPr>
            <a:r>
              <a:rPr sz="2300" b="0">
                <a:solidFill>
                  <a:srgbClr val="1A1A1A"/>
                </a:solidFill>
                <a:latin typeface="Calibri"/>
              </a:rPr>
              <a:t>Thank you </a:t>
            </a:r>
            <a:r>
              <a:rPr lang="en-US" sz="2300" b="0">
                <a:solidFill>
                  <a:srgbClr val="1A1A1A"/>
                </a:solidFill>
                <a:latin typeface="Calibri"/>
              </a:rPr>
              <a:t>for your attention!</a:t>
            </a:r>
            <a:endParaRPr sz="2300" b="0">
              <a:solidFill>
                <a:srgbClr val="1A1A1A"/>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209</TotalTime>
  <Words>1453</Words>
  <Application>Microsoft Macintosh PowerPoint</Application>
  <PresentationFormat>Custom</PresentationFormat>
  <Paragraphs>121</Paragraphs>
  <Slides>8</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Ngoc Hai Nguyen</cp:lastModifiedBy>
  <cp:revision>5</cp:revision>
  <dcterms:created xsi:type="dcterms:W3CDTF">2013-01-27T09:14:16Z</dcterms:created>
  <dcterms:modified xsi:type="dcterms:W3CDTF">2026-06-12T12:17:58Z</dcterms:modified>
  <cp:category/>
</cp:coreProperties>
</file>